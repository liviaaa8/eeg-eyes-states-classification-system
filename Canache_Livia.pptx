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Nirand Bold" charset="1" panose="00000000000000000000"/>
      <p:regular r:id="rId25"/>
    </p:embeddedFont>
    <p:embeddedFont>
      <p:font typeface="Nunito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2504" y="-2406016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29410" y="2696970"/>
            <a:ext cx="12355082" cy="354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EEG-Based Eye State Classification &amp; Cognitive Monitoring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359304" y="488689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629410" y="7236435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0084" y="-5661115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83078" y="704850"/>
            <a:ext cx="8807832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2652" y="2477220"/>
            <a:ext cx="10356648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Unlike cameras, EEG works in poor lighting, is privacy-preserving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and m</a:t>
            </a: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easures brain activity directly.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Why it Matters: This technology is critical for monitoring driver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fatigue, improving human-computer interaction, and neurofeedback systems. 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29662" y="7824967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3276242" y="-767852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04697" y="3119120"/>
            <a:ext cx="580876" cy="58087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40084" y="704850"/>
            <a:ext cx="8807832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PROJECT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5573" y="3652371"/>
            <a:ext cx="13812434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Analyze: Understand EEG signal patterns and data quality.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Preprocess: Clean the data using outlier detection and scaling.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Classify: Build and compare 6 different Machine Learning models (LR, KNN, DT, RF, SVM, MLP).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Monitor: Calculate real-world metrics like Blink Rate, Attention Score, and Fatigue Index. 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487" y="-1916547"/>
            <a:ext cx="14120094" cy="141200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67797" y="704850"/>
            <a:ext cx="9984983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TECHNICAL PIPELINE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2403" y="2956837"/>
            <a:ext cx="12706777" cy="409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Load dataset (Pandas)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Outlier removal (IQR)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Rolling feature extraction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StandardScaler normalization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Train-test split (80-20)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Model training (sklearn)</a:t>
            </a:r>
          </a:p>
          <a:p>
            <a:pPr algn="l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Evaluation and Monitoring (metrics)</a:t>
            </a:r>
          </a:p>
          <a:p>
            <a:pPr algn="l">
              <a:lnSpc>
                <a:spcPts val="364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784506" y="2069555"/>
            <a:ext cx="6206528" cy="6206528"/>
            <a:chOff x="0" y="0"/>
            <a:chExt cx="8909050" cy="890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22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2E3A4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87612" y="1749616"/>
            <a:ext cx="11765046" cy="775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 system uses EEG (Electroencephalography) data to monitor brain activity in real-time: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Input Features(x): 14 EEG Channels: AF3, F7, F3, FC5, T7, P7, O1, O2, P8, T8, FC6, F4, F8, AF4.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Preprocessing: Data was cleaned using the Interquartile Range (IQR) method to remove noise, resulting in 10,848 clean samples.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Feature Engineering: Rolling Window Statistics (Mean and Standard Deviation) were calculated to capture the brain's rhythm over time rather than just static points.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Target Labels(y):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Binary classification: 0 for "Eyes Open" and 1 for "Eyes Closed."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Slightly imbalanced Class Distribution but acceptable for binary classification : Eyes Open: 6005 samples (55.4%), Eyes Closed: 4843 samples (44.6%)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723864" y="182880"/>
            <a:ext cx="10840272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DATASET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290" y="223617"/>
            <a:ext cx="16537420" cy="9839765"/>
          </a:xfrm>
          <a:custGeom>
            <a:avLst/>
            <a:gdLst/>
            <a:ahLst/>
            <a:cxnLst/>
            <a:rect r="r" b="b" t="t" l="l"/>
            <a:pathLst>
              <a:path h="9839765" w="16537420">
                <a:moveTo>
                  <a:pt x="0" y="0"/>
                </a:moveTo>
                <a:lnTo>
                  <a:pt x="16537420" y="0"/>
                </a:lnTo>
                <a:lnTo>
                  <a:pt x="16537420" y="9839766"/>
                </a:lnTo>
                <a:lnTo>
                  <a:pt x="0" y="9839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5983" y="56530"/>
            <a:ext cx="11576204" cy="10230470"/>
          </a:xfrm>
          <a:custGeom>
            <a:avLst/>
            <a:gdLst/>
            <a:ahLst/>
            <a:cxnLst/>
            <a:rect r="r" b="b" t="t" l="l"/>
            <a:pathLst>
              <a:path h="10230470" w="11576204">
                <a:moveTo>
                  <a:pt x="0" y="0"/>
                </a:moveTo>
                <a:lnTo>
                  <a:pt x="11576204" y="0"/>
                </a:lnTo>
                <a:lnTo>
                  <a:pt x="11576204" y="10230470"/>
                </a:lnTo>
                <a:lnTo>
                  <a:pt x="0" y="1023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9004" y="542340"/>
            <a:ext cx="12228996" cy="9202320"/>
          </a:xfrm>
          <a:custGeom>
            <a:avLst/>
            <a:gdLst/>
            <a:ahLst/>
            <a:cxnLst/>
            <a:rect r="r" b="b" t="t" l="l"/>
            <a:pathLst>
              <a:path h="9202320" w="12228996">
                <a:moveTo>
                  <a:pt x="0" y="0"/>
                </a:moveTo>
                <a:lnTo>
                  <a:pt x="12228996" y="0"/>
                </a:lnTo>
                <a:lnTo>
                  <a:pt x="12228996" y="9202320"/>
                </a:lnTo>
                <a:lnTo>
                  <a:pt x="0" y="9202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4212" y="3982732"/>
            <a:ext cx="5252872" cy="227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3"/>
              </a:lnSpc>
            </a:pPr>
            <a:r>
              <a:rPr lang="en-US" sz="21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Eye-State changes are temporal events</a:t>
            </a:r>
            <a:r>
              <a:rPr lang="en-US" sz="21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not a single-point event.</a:t>
            </a:r>
          </a:p>
          <a:p>
            <a:pPr algn="just" marL="467853" indent="-233926" lvl="1">
              <a:lnSpc>
                <a:spcPts val="3033"/>
              </a:lnSpc>
              <a:buFont typeface="Arial"/>
              <a:buChar char="•"/>
            </a:pPr>
            <a:r>
              <a:rPr lang="en-US" sz="21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Rolling window size = 10</a:t>
            </a:r>
          </a:p>
          <a:p>
            <a:pPr algn="just" marL="467853" indent="-233926" lvl="1">
              <a:lnSpc>
                <a:spcPts val="3033"/>
              </a:lnSpc>
              <a:buFont typeface="Arial"/>
              <a:buChar char="•"/>
            </a:pPr>
            <a:r>
              <a:rPr lang="en-US" sz="21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Mean, Std, Min, Max per channel</a:t>
            </a:r>
          </a:p>
          <a:p>
            <a:pPr algn="l" marL="467853" indent="-233926" lvl="1">
              <a:lnSpc>
                <a:spcPts val="3033"/>
              </a:lnSpc>
              <a:buFont typeface="Arial"/>
              <a:buChar char="•"/>
            </a:pPr>
            <a:r>
              <a:rPr lang="en-US" sz="21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14 original + 56 rolling = 70 features</a:t>
            </a:r>
          </a:p>
          <a:p>
            <a:pPr algn="just">
              <a:lnSpc>
                <a:spcPts val="30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487" y="-1916547"/>
            <a:ext cx="14120094" cy="141200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67797" y="704850"/>
            <a:ext cx="8752407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MODEL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67484" y="3429802"/>
            <a:ext cx="12706777" cy="318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 six models were chosen to represent different machine learning paradigms, allowing a comprehensive evaluation of the EEG feature space.</a:t>
            </a:r>
          </a:p>
          <a:p>
            <a:pPr algn="just">
              <a:lnSpc>
                <a:spcPts val="3644"/>
              </a:lnSpc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 goal was not just to find the best model, but to:</a:t>
            </a: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Compare linear vs non-linear decision boundaries</a:t>
            </a: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Compare parame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tric vs non-parametric methods</a:t>
            </a: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Compare s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ingle models vs ensemble models</a:t>
            </a: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Com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pare classical ML vs neural networks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437604" y="3967038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73855" y="9602419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3601" y="618364"/>
            <a:ext cx="4057044" cy="4135069"/>
            <a:chOff x="0" y="0"/>
            <a:chExt cx="1068522" cy="1089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8522" cy="1089072"/>
            </a:xfrm>
            <a:custGeom>
              <a:avLst/>
              <a:gdLst/>
              <a:ahLst/>
              <a:cxnLst/>
              <a:rect r="r" b="b" t="t" l="l"/>
              <a:pathLst>
                <a:path h="1089072" w="1068522">
                  <a:moveTo>
                    <a:pt x="97322" y="0"/>
                  </a:moveTo>
                  <a:lnTo>
                    <a:pt x="971200" y="0"/>
                  </a:lnTo>
                  <a:cubicBezTo>
                    <a:pt x="1024950" y="0"/>
                    <a:pt x="1068522" y="43572"/>
                    <a:pt x="1068522" y="97322"/>
                  </a:cubicBezTo>
                  <a:lnTo>
                    <a:pt x="1068522" y="991750"/>
                  </a:lnTo>
                  <a:cubicBezTo>
                    <a:pt x="1068522" y="1017561"/>
                    <a:pt x="1058268" y="1042316"/>
                    <a:pt x="1040017" y="1060567"/>
                  </a:cubicBezTo>
                  <a:cubicBezTo>
                    <a:pt x="1021766" y="1078818"/>
                    <a:pt x="997012" y="1089072"/>
                    <a:pt x="971200" y="1089072"/>
                  </a:cubicBezTo>
                  <a:lnTo>
                    <a:pt x="97322" y="1089072"/>
                  </a:lnTo>
                  <a:cubicBezTo>
                    <a:pt x="43572" y="1089072"/>
                    <a:pt x="0" y="1045499"/>
                    <a:pt x="0" y="991750"/>
                  </a:cubicBezTo>
                  <a:lnTo>
                    <a:pt x="0" y="97322"/>
                  </a:lnTo>
                  <a:cubicBezTo>
                    <a:pt x="0" y="43572"/>
                    <a:pt x="43572" y="0"/>
                    <a:pt x="97322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8522" cy="112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      1. Logistic Regression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Linear classifier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Baseline model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Finds linear decision boundary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Works well when classes are linearly separable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Fast and interpretable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22843" y="618364"/>
            <a:ext cx="3974702" cy="4135069"/>
            <a:chOff x="0" y="0"/>
            <a:chExt cx="1046835" cy="1089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6835" cy="1089072"/>
            </a:xfrm>
            <a:custGeom>
              <a:avLst/>
              <a:gdLst/>
              <a:ahLst/>
              <a:cxnLst/>
              <a:rect r="r" b="b" t="t" l="l"/>
              <a:pathLst>
                <a:path h="1089072" w="1046835">
                  <a:moveTo>
                    <a:pt x="99338" y="0"/>
                  </a:moveTo>
                  <a:lnTo>
                    <a:pt x="947497" y="0"/>
                  </a:lnTo>
                  <a:cubicBezTo>
                    <a:pt x="973843" y="0"/>
                    <a:pt x="999110" y="10466"/>
                    <a:pt x="1017740" y="29095"/>
                  </a:cubicBezTo>
                  <a:cubicBezTo>
                    <a:pt x="1036369" y="47725"/>
                    <a:pt x="1046835" y="72992"/>
                    <a:pt x="1046835" y="99338"/>
                  </a:cubicBezTo>
                  <a:lnTo>
                    <a:pt x="1046835" y="989734"/>
                  </a:lnTo>
                  <a:cubicBezTo>
                    <a:pt x="1046835" y="1044597"/>
                    <a:pt x="1002360" y="1089072"/>
                    <a:pt x="947497" y="1089072"/>
                  </a:cubicBezTo>
                  <a:lnTo>
                    <a:pt x="99338" y="1089072"/>
                  </a:lnTo>
                  <a:cubicBezTo>
                    <a:pt x="44475" y="1089072"/>
                    <a:pt x="0" y="1044597"/>
                    <a:pt x="0" y="989734"/>
                  </a:cubicBezTo>
                  <a:lnTo>
                    <a:pt x="0" y="99338"/>
                  </a:lnTo>
                  <a:cubicBezTo>
                    <a:pt x="0" y="44475"/>
                    <a:pt x="44475" y="0"/>
                    <a:pt x="99338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6835" cy="112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   3 .Decision Tree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Non-linear tree-based model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Interpretability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Spl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its data using feature thresholds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Captures non-linear relationships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Risk of overfitting (controlled via depth)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26312" y="618364"/>
            <a:ext cx="3970863" cy="4135069"/>
            <a:chOff x="0" y="0"/>
            <a:chExt cx="1045824" cy="108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5824" cy="1089072"/>
            </a:xfrm>
            <a:custGeom>
              <a:avLst/>
              <a:gdLst/>
              <a:ahLst/>
              <a:cxnLst/>
              <a:rect r="r" b="b" t="t" l="l"/>
              <a:pathLst>
                <a:path h="1089072" w="1045824">
                  <a:moveTo>
                    <a:pt x="99434" y="0"/>
                  </a:moveTo>
                  <a:lnTo>
                    <a:pt x="946390" y="0"/>
                  </a:lnTo>
                  <a:cubicBezTo>
                    <a:pt x="1001306" y="0"/>
                    <a:pt x="1045824" y="44518"/>
                    <a:pt x="1045824" y="99434"/>
                  </a:cubicBezTo>
                  <a:lnTo>
                    <a:pt x="1045824" y="989638"/>
                  </a:lnTo>
                  <a:cubicBezTo>
                    <a:pt x="1045824" y="1016009"/>
                    <a:pt x="1035348" y="1041301"/>
                    <a:pt x="1016701" y="1059948"/>
                  </a:cubicBezTo>
                  <a:cubicBezTo>
                    <a:pt x="998053" y="1078596"/>
                    <a:pt x="972762" y="1089072"/>
                    <a:pt x="946390" y="1089072"/>
                  </a:cubicBezTo>
                  <a:lnTo>
                    <a:pt x="99434" y="1089072"/>
                  </a:lnTo>
                  <a:cubicBezTo>
                    <a:pt x="73062" y="1089072"/>
                    <a:pt x="47771" y="1078596"/>
                    <a:pt x="29123" y="1059948"/>
                  </a:cubicBezTo>
                  <a:cubicBezTo>
                    <a:pt x="10476" y="1041301"/>
                    <a:pt x="0" y="1016009"/>
                    <a:pt x="0" y="989638"/>
                  </a:cubicBezTo>
                  <a:lnTo>
                    <a:pt x="0" y="99434"/>
                  </a:lnTo>
                  <a:cubicBezTo>
                    <a:pt x="0" y="73062"/>
                    <a:pt x="10476" y="47771"/>
                    <a:pt x="29123" y="29123"/>
                  </a:cubicBezTo>
                  <a:cubicBezTo>
                    <a:pt x="47771" y="10476"/>
                    <a:pt x="73062" y="0"/>
                    <a:pt x="99434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45824" cy="112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2. K-Nearest Neighbors (KNN)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Distance-based classifier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Captures local structure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Classifies based on nearest samples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Sensitive to scaling - StandardScaler required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Works well with structured feature spaces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26682" y="5100866"/>
            <a:ext cx="3970863" cy="4092435"/>
            <a:chOff x="0" y="0"/>
            <a:chExt cx="1045824" cy="10778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5824" cy="1077843"/>
            </a:xfrm>
            <a:custGeom>
              <a:avLst/>
              <a:gdLst/>
              <a:ahLst/>
              <a:cxnLst/>
              <a:rect r="r" b="b" t="t" l="l"/>
              <a:pathLst>
                <a:path h="1077843" w="1045824">
                  <a:moveTo>
                    <a:pt x="99434" y="0"/>
                  </a:moveTo>
                  <a:lnTo>
                    <a:pt x="946390" y="0"/>
                  </a:lnTo>
                  <a:cubicBezTo>
                    <a:pt x="1001306" y="0"/>
                    <a:pt x="1045824" y="44518"/>
                    <a:pt x="1045824" y="99434"/>
                  </a:cubicBezTo>
                  <a:lnTo>
                    <a:pt x="1045824" y="978409"/>
                  </a:lnTo>
                  <a:cubicBezTo>
                    <a:pt x="1045824" y="1004781"/>
                    <a:pt x="1035348" y="1030072"/>
                    <a:pt x="1016701" y="1048720"/>
                  </a:cubicBezTo>
                  <a:cubicBezTo>
                    <a:pt x="998053" y="1067367"/>
                    <a:pt x="972762" y="1077843"/>
                    <a:pt x="946390" y="1077843"/>
                  </a:cubicBezTo>
                  <a:lnTo>
                    <a:pt x="99434" y="1077843"/>
                  </a:lnTo>
                  <a:cubicBezTo>
                    <a:pt x="73062" y="1077843"/>
                    <a:pt x="47771" y="1067367"/>
                    <a:pt x="29123" y="1048720"/>
                  </a:cubicBezTo>
                  <a:cubicBezTo>
                    <a:pt x="10476" y="1030072"/>
                    <a:pt x="0" y="1004781"/>
                    <a:pt x="0" y="978409"/>
                  </a:cubicBezTo>
                  <a:lnTo>
                    <a:pt x="0" y="99434"/>
                  </a:lnTo>
                  <a:cubicBezTo>
                    <a:pt x="0" y="73062"/>
                    <a:pt x="10476" y="47771"/>
                    <a:pt x="29123" y="29123"/>
                  </a:cubicBezTo>
                  <a:cubicBezTo>
                    <a:pt x="47771" y="10476"/>
                    <a:pt x="73062" y="0"/>
                    <a:pt x="99434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45824" cy="1115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6.Multi-Layer Perceptron (MLP)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Feed Forward Neural Network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Capture complex patterns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Layer Types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Input layer (70 features)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Hidden layers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Output layer (binary classification)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26312" y="5100866"/>
            <a:ext cx="3946634" cy="4135069"/>
            <a:chOff x="0" y="0"/>
            <a:chExt cx="1039443" cy="108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9443" cy="1089072"/>
            </a:xfrm>
            <a:custGeom>
              <a:avLst/>
              <a:gdLst/>
              <a:ahLst/>
              <a:cxnLst/>
              <a:rect r="r" b="b" t="t" l="l"/>
              <a:pathLst>
                <a:path h="1089072" w="1039443">
                  <a:moveTo>
                    <a:pt x="100044" y="0"/>
                  </a:moveTo>
                  <a:lnTo>
                    <a:pt x="939399" y="0"/>
                  </a:lnTo>
                  <a:cubicBezTo>
                    <a:pt x="965932" y="0"/>
                    <a:pt x="991379" y="10540"/>
                    <a:pt x="1010141" y="29302"/>
                  </a:cubicBezTo>
                  <a:cubicBezTo>
                    <a:pt x="1028903" y="48064"/>
                    <a:pt x="1039443" y="73511"/>
                    <a:pt x="1039443" y="100044"/>
                  </a:cubicBezTo>
                  <a:lnTo>
                    <a:pt x="1039443" y="989028"/>
                  </a:lnTo>
                  <a:cubicBezTo>
                    <a:pt x="1039443" y="1015561"/>
                    <a:pt x="1028903" y="1041007"/>
                    <a:pt x="1010141" y="1059769"/>
                  </a:cubicBezTo>
                  <a:cubicBezTo>
                    <a:pt x="991379" y="1078531"/>
                    <a:pt x="965932" y="1089072"/>
                    <a:pt x="939399" y="1089072"/>
                  </a:cubicBezTo>
                  <a:lnTo>
                    <a:pt x="100044" y="1089072"/>
                  </a:lnTo>
                  <a:cubicBezTo>
                    <a:pt x="44791" y="1089072"/>
                    <a:pt x="0" y="1044280"/>
                    <a:pt x="0" y="989028"/>
                  </a:cubicBezTo>
                  <a:lnTo>
                    <a:pt x="0" y="100044"/>
                  </a:lnTo>
                  <a:cubicBezTo>
                    <a:pt x="0" y="73511"/>
                    <a:pt x="10540" y="48064"/>
                    <a:pt x="29302" y="29302"/>
                  </a:cubicBezTo>
                  <a:cubicBezTo>
                    <a:pt x="48064" y="10540"/>
                    <a:pt x="73511" y="0"/>
                    <a:pt x="100044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39443" cy="112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5. Support Vector Machine (SVM)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Margin-based classifier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Handles complex boundaries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Maximize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 margin between classes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Kernel trick enables non-linear separation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Effective for high-dimensional data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6793" y="5058233"/>
            <a:ext cx="4057044" cy="4135069"/>
            <a:chOff x="0" y="0"/>
            <a:chExt cx="1068522" cy="1089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8522" cy="1089072"/>
            </a:xfrm>
            <a:custGeom>
              <a:avLst/>
              <a:gdLst/>
              <a:ahLst/>
              <a:cxnLst/>
              <a:rect r="r" b="b" t="t" l="l"/>
              <a:pathLst>
                <a:path h="1089072" w="1068522">
                  <a:moveTo>
                    <a:pt x="97322" y="0"/>
                  </a:moveTo>
                  <a:lnTo>
                    <a:pt x="971200" y="0"/>
                  </a:lnTo>
                  <a:cubicBezTo>
                    <a:pt x="1024950" y="0"/>
                    <a:pt x="1068522" y="43572"/>
                    <a:pt x="1068522" y="97322"/>
                  </a:cubicBezTo>
                  <a:lnTo>
                    <a:pt x="1068522" y="991750"/>
                  </a:lnTo>
                  <a:cubicBezTo>
                    <a:pt x="1068522" y="1017561"/>
                    <a:pt x="1058268" y="1042316"/>
                    <a:pt x="1040017" y="1060567"/>
                  </a:cubicBezTo>
                  <a:cubicBezTo>
                    <a:pt x="1021766" y="1078818"/>
                    <a:pt x="997012" y="1089072"/>
                    <a:pt x="971200" y="1089072"/>
                  </a:cubicBezTo>
                  <a:lnTo>
                    <a:pt x="97322" y="1089072"/>
                  </a:lnTo>
                  <a:cubicBezTo>
                    <a:pt x="43572" y="1089072"/>
                    <a:pt x="0" y="1045499"/>
                    <a:pt x="0" y="991750"/>
                  </a:cubicBezTo>
                  <a:lnTo>
                    <a:pt x="0" y="97322"/>
                  </a:lnTo>
                  <a:cubicBezTo>
                    <a:pt x="0" y="43572"/>
                    <a:pt x="43572" y="0"/>
                    <a:pt x="97322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68522" cy="112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        4. Random Forest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Type: Ensemble of Decision Trees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Why used: Robust non-linear modeling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Reduces overfitting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rovides feature importance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Strong performance on structured data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437604" y="3967038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73855" y="9602419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97275" y="4055274"/>
            <a:ext cx="5694525" cy="4465574"/>
            <a:chOff x="0" y="0"/>
            <a:chExt cx="1499793" cy="11761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793" cy="1176118"/>
            </a:xfrm>
            <a:custGeom>
              <a:avLst/>
              <a:gdLst/>
              <a:ahLst/>
              <a:cxnLst/>
              <a:rect r="r" b="b" t="t" l="l"/>
              <a:pathLst>
                <a:path h="1176118" w="1499793">
                  <a:moveTo>
                    <a:pt x="69336" y="0"/>
                  </a:moveTo>
                  <a:lnTo>
                    <a:pt x="1430456" y="0"/>
                  </a:lnTo>
                  <a:cubicBezTo>
                    <a:pt x="1448845" y="0"/>
                    <a:pt x="1466481" y="7305"/>
                    <a:pt x="1479484" y="20308"/>
                  </a:cubicBezTo>
                  <a:cubicBezTo>
                    <a:pt x="1492487" y="33311"/>
                    <a:pt x="1499793" y="50947"/>
                    <a:pt x="1499793" y="69336"/>
                  </a:cubicBezTo>
                  <a:lnTo>
                    <a:pt x="1499793" y="1106782"/>
                  </a:lnTo>
                  <a:cubicBezTo>
                    <a:pt x="1499793" y="1125171"/>
                    <a:pt x="1492487" y="1142807"/>
                    <a:pt x="1479484" y="1155810"/>
                  </a:cubicBezTo>
                  <a:cubicBezTo>
                    <a:pt x="1466481" y="1168813"/>
                    <a:pt x="1448845" y="1176118"/>
                    <a:pt x="1430456" y="1176118"/>
                  </a:cubicBezTo>
                  <a:lnTo>
                    <a:pt x="69336" y="1176118"/>
                  </a:lnTo>
                  <a:cubicBezTo>
                    <a:pt x="50947" y="1176118"/>
                    <a:pt x="33311" y="1168813"/>
                    <a:pt x="20308" y="1155810"/>
                  </a:cubicBezTo>
                  <a:cubicBezTo>
                    <a:pt x="7305" y="1142807"/>
                    <a:pt x="0" y="1125171"/>
                    <a:pt x="0" y="1106782"/>
                  </a:cubicBezTo>
                  <a:lnTo>
                    <a:pt x="0" y="69336"/>
                  </a:lnTo>
                  <a:cubicBezTo>
                    <a:pt x="0" y="50947"/>
                    <a:pt x="7305" y="33311"/>
                    <a:pt x="20308" y="20308"/>
                  </a:cubicBezTo>
                  <a:cubicBezTo>
                    <a:pt x="33311" y="7305"/>
                    <a:pt x="50947" y="0"/>
                    <a:pt x="69336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99793" cy="121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Neural Network (MLP) 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Training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The MLP was the most important training process.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Optimized with Adam optimizer to handle high-dimensional EEG feature spaces efficiently.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Arc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hitecture: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Input layer: 70 features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Hidden layer 1: approx. 100 neurons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Hidden l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ayer 2: approx 50 neurons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Out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put layer: 1 neuron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Activation Functions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Hidden layers - ReLU (Avoids vanishing gradient, fast computation,sparse activation)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Output layer- Sigmoid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34571" y="4055274"/>
            <a:ext cx="4143579" cy="4465574"/>
            <a:chOff x="0" y="0"/>
            <a:chExt cx="1091313" cy="11761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1313" cy="1176118"/>
            </a:xfrm>
            <a:custGeom>
              <a:avLst/>
              <a:gdLst/>
              <a:ahLst/>
              <a:cxnLst/>
              <a:rect r="r" b="b" t="t" l="l"/>
              <a:pathLst>
                <a:path h="1176118" w="1091313">
                  <a:moveTo>
                    <a:pt x="95289" y="0"/>
                  </a:moveTo>
                  <a:lnTo>
                    <a:pt x="996024" y="0"/>
                  </a:lnTo>
                  <a:cubicBezTo>
                    <a:pt x="1048651" y="0"/>
                    <a:pt x="1091313" y="42662"/>
                    <a:pt x="1091313" y="95289"/>
                  </a:cubicBezTo>
                  <a:lnTo>
                    <a:pt x="1091313" y="1080829"/>
                  </a:lnTo>
                  <a:cubicBezTo>
                    <a:pt x="1091313" y="1106101"/>
                    <a:pt x="1081274" y="1130339"/>
                    <a:pt x="1063403" y="1148209"/>
                  </a:cubicBezTo>
                  <a:cubicBezTo>
                    <a:pt x="1045533" y="1166079"/>
                    <a:pt x="1021296" y="1176118"/>
                    <a:pt x="996024" y="1176118"/>
                  </a:cubicBezTo>
                  <a:lnTo>
                    <a:pt x="95289" y="1176118"/>
                  </a:lnTo>
                  <a:cubicBezTo>
                    <a:pt x="70017" y="1176118"/>
                    <a:pt x="45780" y="1166079"/>
                    <a:pt x="27910" y="1148209"/>
                  </a:cubicBezTo>
                  <a:cubicBezTo>
                    <a:pt x="10039" y="1130339"/>
                    <a:pt x="0" y="1106101"/>
                    <a:pt x="0" y="1080829"/>
                  </a:cubicBezTo>
                  <a:lnTo>
                    <a:pt x="0" y="95289"/>
                  </a:lnTo>
                  <a:cubicBezTo>
                    <a:pt x="0" y="70017"/>
                    <a:pt x="10039" y="45780"/>
                    <a:pt x="27910" y="27910"/>
                  </a:cubicBezTo>
                  <a:cubicBezTo>
                    <a:pt x="45780" y="10039"/>
                    <a:pt x="70017" y="0"/>
                    <a:pt x="95289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1313" cy="121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 Feature Scaling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StandardScaler applied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Zero mean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Unit variance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 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Necessary for: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KNN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SVM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Logistic Regression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MLP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15267" y="4055274"/>
            <a:ext cx="4100657" cy="4465574"/>
            <a:chOff x="0" y="0"/>
            <a:chExt cx="1080008" cy="11761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0008" cy="1176118"/>
            </a:xfrm>
            <a:custGeom>
              <a:avLst/>
              <a:gdLst/>
              <a:ahLst/>
              <a:cxnLst/>
              <a:rect r="r" b="b" t="t" l="l"/>
              <a:pathLst>
                <a:path h="1176118" w="1080008">
                  <a:moveTo>
                    <a:pt x="96287" y="0"/>
                  </a:moveTo>
                  <a:lnTo>
                    <a:pt x="983722" y="0"/>
                  </a:lnTo>
                  <a:cubicBezTo>
                    <a:pt x="1036899" y="0"/>
                    <a:pt x="1080008" y="43109"/>
                    <a:pt x="1080008" y="96287"/>
                  </a:cubicBezTo>
                  <a:lnTo>
                    <a:pt x="1080008" y="1079832"/>
                  </a:lnTo>
                  <a:cubicBezTo>
                    <a:pt x="1080008" y="1105368"/>
                    <a:pt x="1069864" y="1129859"/>
                    <a:pt x="1051807" y="1147917"/>
                  </a:cubicBezTo>
                  <a:cubicBezTo>
                    <a:pt x="1033749" y="1165974"/>
                    <a:pt x="1009259" y="1176118"/>
                    <a:pt x="983722" y="1176118"/>
                  </a:cubicBezTo>
                  <a:lnTo>
                    <a:pt x="96287" y="1176118"/>
                  </a:lnTo>
                  <a:cubicBezTo>
                    <a:pt x="43109" y="1176118"/>
                    <a:pt x="0" y="1133009"/>
                    <a:pt x="0" y="1079832"/>
                  </a:cubicBezTo>
                  <a:lnTo>
                    <a:pt x="0" y="96287"/>
                  </a:lnTo>
                  <a:cubicBezTo>
                    <a:pt x="0" y="43109"/>
                    <a:pt x="43109" y="0"/>
                    <a:pt x="96287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80008" cy="121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Train-Test Split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80% training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20% t</a:t>
              </a:r>
              <a:r>
                <a:rPr lang="en-US" sz="20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esting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Stratified split (preserves label distribution)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767797" y="704850"/>
            <a:ext cx="8752407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38417" y="2242849"/>
            <a:ext cx="12706777" cy="135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The training stage was carefully designed to p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revent data leakage, ensure model generalization, maintain reproducibility and enable fair model comparison.</a:t>
            </a:r>
          </a:p>
          <a:p>
            <a:pPr algn="l">
              <a:lnSpc>
                <a:spcPts val="364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5185" y="-8662"/>
            <a:ext cx="13866212" cy="10295662"/>
          </a:xfrm>
          <a:custGeom>
            <a:avLst/>
            <a:gdLst/>
            <a:ahLst/>
            <a:cxnLst/>
            <a:rect r="r" b="b" t="t" l="l"/>
            <a:pathLst>
              <a:path h="10295662" w="13866212">
                <a:moveTo>
                  <a:pt x="0" y="0"/>
                </a:moveTo>
                <a:lnTo>
                  <a:pt x="13866212" y="0"/>
                </a:lnTo>
                <a:lnTo>
                  <a:pt x="13866212" y="10295662"/>
                </a:lnTo>
                <a:lnTo>
                  <a:pt x="0" y="1029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5934" y="-83784"/>
            <a:ext cx="12476131" cy="10370784"/>
          </a:xfrm>
          <a:custGeom>
            <a:avLst/>
            <a:gdLst/>
            <a:ahLst/>
            <a:cxnLst/>
            <a:rect r="r" b="b" t="t" l="l"/>
            <a:pathLst>
              <a:path h="10370784" w="12476131">
                <a:moveTo>
                  <a:pt x="0" y="0"/>
                </a:moveTo>
                <a:lnTo>
                  <a:pt x="12476132" y="0"/>
                </a:lnTo>
                <a:lnTo>
                  <a:pt x="12476132" y="10370784"/>
                </a:lnTo>
                <a:lnTo>
                  <a:pt x="0" y="1037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8120" y="460444"/>
            <a:ext cx="10463194" cy="8697530"/>
          </a:xfrm>
          <a:custGeom>
            <a:avLst/>
            <a:gdLst/>
            <a:ahLst/>
            <a:cxnLst/>
            <a:rect r="r" b="b" t="t" l="l"/>
            <a:pathLst>
              <a:path h="8697530" w="10463194">
                <a:moveTo>
                  <a:pt x="0" y="0"/>
                </a:moveTo>
                <a:lnTo>
                  <a:pt x="10463195" y="0"/>
                </a:lnTo>
                <a:lnTo>
                  <a:pt x="10463195" y="8697530"/>
                </a:lnTo>
                <a:lnTo>
                  <a:pt x="0" y="8697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21678"/>
            <a:ext cx="6233176" cy="396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model relies primarily on rolling statistics from occipital electrodes, which are physiologically linked to eye closure. It tells us which input variables contribute most to the model’s decision:</a:t>
            </a:r>
          </a:p>
          <a:p>
            <a:pPr algn="l" marL="442470" indent="-221235" lvl="1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Rolling (temporal) features dominate</a:t>
            </a:r>
          </a:p>
          <a:p>
            <a:pPr algn="l" marL="442470" indent="-221235" lvl="1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Occipital (O1) and Parietal (P7) regions are dominant, which aligns with known alpha activity changes during eye closure. </a:t>
            </a:r>
          </a:p>
          <a:p>
            <a:pPr algn="l" marL="442470" indent="-221235" lvl="1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Short-term extrema and variability matter more than raw amplitude.</a:t>
            </a:r>
          </a:p>
          <a:p>
            <a:pPr algn="l">
              <a:lnSpc>
                <a:spcPts val="28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487" y="-1916547"/>
            <a:ext cx="14120094" cy="141200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225102" y="704850"/>
            <a:ext cx="12149159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COGNITIVE MONITORING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67484" y="3429802"/>
            <a:ext cx="12706777" cy="410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Cognitive metrics show the h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igh average attention, intermittent fatigue spikes, moderate blink rate</a:t>
            </a:r>
          </a:p>
          <a:p>
            <a:pPr algn="just">
              <a:lnSpc>
                <a:spcPts val="3644"/>
              </a:lnSpc>
            </a:pP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link Analysis: a fatigue indicator, b</a:t>
            </a: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link = transition 0 - 1 - 0</a:t>
            </a:r>
          </a:p>
          <a:p>
            <a:pPr algn="just">
              <a:lnSpc>
                <a:spcPts val="3644"/>
              </a:lnSpc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Computed :blink count, rate and duration</a:t>
            </a:r>
          </a:p>
          <a:p>
            <a:pPr algn="just">
              <a:lnSpc>
                <a:spcPts val="3644"/>
              </a:lnSpc>
            </a:pP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Attention Score: lower blink rate-higher attention</a:t>
            </a:r>
          </a:p>
          <a:p>
            <a:pPr algn="just" marL="561990" indent="-280995" lvl="1">
              <a:lnSpc>
                <a:spcPts val="3644"/>
              </a:lnSpc>
              <a:buFont typeface="Arial"/>
              <a:buChar char="•"/>
            </a:pPr>
            <a:r>
              <a:rPr lang="en-US" sz="260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Fatigue Index: % eye-closed samples per 1000-sample window, alert threshold: 40%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7633" y="0"/>
            <a:ext cx="13877909" cy="10287000"/>
          </a:xfrm>
          <a:custGeom>
            <a:avLst/>
            <a:gdLst/>
            <a:ahLst/>
            <a:cxnLst/>
            <a:rect r="r" b="b" t="t" l="l"/>
            <a:pathLst>
              <a:path h="10287000" w="13877909">
                <a:moveTo>
                  <a:pt x="0" y="0"/>
                </a:moveTo>
                <a:lnTo>
                  <a:pt x="13877909" y="0"/>
                </a:lnTo>
                <a:lnTo>
                  <a:pt x="138779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966" y="100584"/>
            <a:ext cx="16300334" cy="10085832"/>
          </a:xfrm>
          <a:custGeom>
            <a:avLst/>
            <a:gdLst/>
            <a:ahLst/>
            <a:cxnLst/>
            <a:rect r="r" b="b" t="t" l="l"/>
            <a:pathLst>
              <a:path h="10085832" w="16300334">
                <a:moveTo>
                  <a:pt x="0" y="0"/>
                </a:moveTo>
                <a:lnTo>
                  <a:pt x="16300334" y="0"/>
                </a:lnTo>
                <a:lnTo>
                  <a:pt x="16300334" y="10085832"/>
                </a:lnTo>
                <a:lnTo>
                  <a:pt x="0" y="10085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82213" y="-1345629"/>
            <a:ext cx="13341342" cy="1334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8239" y="3924493"/>
            <a:ext cx="669594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86609" y="3998124"/>
            <a:ext cx="6455866" cy="250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328" indent="-30966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Nonlinear models </a:t>
            </a:r>
            <a:r>
              <a:rPr lang="en-US" sz="2868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outperform linear</a:t>
            </a:r>
          </a:p>
          <a:p>
            <a:pPr algn="l" marL="619328" indent="-30966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Rolling features are crucial</a:t>
            </a:r>
          </a:p>
          <a:p>
            <a:pPr algn="l" marL="619328" indent="-30966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MLP provides best generalization</a:t>
            </a:r>
          </a:p>
          <a:p>
            <a:pPr algn="l" marL="619328" indent="-30966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Real-time monitoring is feasible</a:t>
            </a:r>
          </a:p>
          <a:p>
            <a:pPr algn="ctr">
              <a:lnSpc>
                <a:spcPts val="40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965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11909" y="2963670"/>
            <a:ext cx="7864182" cy="46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076091" y="710993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740932" y="6266276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DAHBJcE2UK0</dc:identifier>
  <dcterms:modified xsi:type="dcterms:W3CDTF">2011-08-01T06:04:30Z</dcterms:modified>
  <cp:revision>1</cp:revision>
  <dc:title>Canache_Livia</dc:title>
</cp:coreProperties>
</file>